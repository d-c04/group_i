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63" r:id="rId3"/>
    <p:sldId id="257" r:id="rId4"/>
    <p:sldId id="264" r:id="rId5"/>
    <p:sldId id="259" r:id="rId6"/>
    <p:sldId id="258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EEFF0A-99ED-6F22-A3CB-7136E29BD329}" v="305" dt="2026-03-18T19:50:31.182"/>
    <p1510:client id="{657154B2-1367-55B7-9E89-74E969732F5C}" v="610" dt="2026-03-18T05:48:58.072"/>
    <p1510:client id="{8522D752-C317-2209-CFEB-42A2CCFCEABC}" v="196" dt="2026-03-18T20:17:23.203"/>
    <p1510:client id="{DE78F355-0937-4C99-2DCF-206A2E57C461}" v="6" dt="2026-03-18T05:17:54.1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Filipino_cuisine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8279" y="662492"/>
            <a:ext cx="4260690" cy="3566160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l"/>
            <a:r>
              <a:rPr lang="en-US" sz="4400" b="1">
                <a:latin typeface="Aptos"/>
                <a:cs typeface="Times New Roman"/>
              </a:rPr>
              <a:t>Group I</a:t>
            </a:r>
            <a:br>
              <a:rPr lang="en-US" sz="4400">
                <a:latin typeface="Aptos"/>
                <a:cs typeface="Times New Roman"/>
              </a:rPr>
            </a:br>
            <a:r>
              <a:rPr lang="en-US" sz="4400">
                <a:latin typeface="Aptos"/>
                <a:cs typeface="Times New Roman"/>
              </a:rPr>
              <a:t>Project Progress Scrum/Check In</a:t>
            </a:r>
            <a:br>
              <a:rPr lang="en-US" sz="4400">
                <a:latin typeface="Aptos"/>
                <a:cs typeface="Times New Roman"/>
              </a:rPr>
            </a:br>
            <a:endParaRPr lang="en-US" sz="4400">
              <a:latin typeface="Aptos"/>
              <a:cs typeface="Times New Roman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0339" y="4636008"/>
            <a:ext cx="4126220" cy="157276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>
                <a:latin typeface="Aptos"/>
                <a:cs typeface="Times New Roman"/>
              </a:rPr>
              <a:t>Deran Cross, </a:t>
            </a:r>
            <a:r>
              <a:rPr lang="en-US" err="1">
                <a:latin typeface="Aptos"/>
                <a:cs typeface="Times New Roman"/>
              </a:rPr>
              <a:t>Zifran</a:t>
            </a:r>
            <a:r>
              <a:rPr lang="en-US">
                <a:latin typeface="Aptos"/>
                <a:cs typeface="Times New Roman"/>
              </a:rPr>
              <a:t> Chowdhury, Ikechukwu </a:t>
            </a:r>
            <a:r>
              <a:rPr lang="en-US" err="1">
                <a:latin typeface="Aptos"/>
                <a:cs typeface="Times New Roman"/>
              </a:rPr>
              <a:t>Ogowuihe</a:t>
            </a:r>
            <a:r>
              <a:rPr lang="en-US">
                <a:latin typeface="Aptos"/>
                <a:cs typeface="Times New Roman"/>
              </a:rPr>
              <a:t>, Emmanuel Dairo</a:t>
            </a:r>
          </a:p>
          <a:p>
            <a:pPr algn="l"/>
            <a:endParaRPr lang="en-US">
              <a:latin typeface="Times New Roman"/>
              <a:cs typeface="Times New Roman"/>
            </a:endParaRPr>
          </a:p>
        </p:txBody>
      </p:sp>
      <p:sp>
        <p:nvSpPr>
          <p:cNvPr id="53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Assorted Fried Dish on Ceramic Plate · Free Stock Photo">
            <a:extLst>
              <a:ext uri="{FF2B5EF4-FFF2-40B4-BE49-F238E27FC236}">
                <a16:creationId xmlns:a16="http://schemas.microsoft.com/office/drawing/2014/main" id="{C76B57A0-B135-D248-4A68-6F77091A86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36" r="27143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87057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F86C4-E2EE-1887-D437-EA5ADF225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 b="1">
                <a:latin typeface="Aptos"/>
                <a:cs typeface="Times New Roman"/>
              </a:rPr>
              <a:t>Kitchen Sync</a:t>
            </a:r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16C8EA2-FC38-0290-7731-0F52C165D6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7428" r="27428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39FE482-7131-F3BD-C488-46E1AD4C89C7}"/>
              </a:ext>
            </a:extLst>
          </p:cNvPr>
          <p:cNvSpPr txBox="1"/>
          <p:nvPr/>
        </p:nvSpPr>
        <p:spPr>
          <a:xfrm>
            <a:off x="5311775" y="6858000"/>
            <a:ext cx="6878638" cy="317500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r>
              <a:rPr lang="en-US"/>
              <a:t>ThePhoto by PhotoAuthor is licensed under CCYYSA.</a:t>
            </a:r>
          </a:p>
        </p:txBody>
      </p:sp>
    </p:spTree>
    <p:extLst>
      <p:ext uri="{BB962C8B-B14F-4D97-AF65-F5344CB8AC3E}">
        <p14:creationId xmlns:p14="http://schemas.microsoft.com/office/powerpoint/2010/main" val="1240918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915F3-1153-8B70-759C-71D2B0D4D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40" y="1138265"/>
            <a:ext cx="4544762" cy="1401183"/>
          </a:xfrm>
        </p:spPr>
        <p:txBody>
          <a:bodyPr anchor="t">
            <a:normAutofit/>
          </a:bodyPr>
          <a:lstStyle/>
          <a:p>
            <a:r>
              <a:rPr lang="en-US" sz="5400">
                <a:highlight>
                  <a:srgbClr val="FFFFFF"/>
                </a:highlight>
                <a:latin typeface="Aptos Display"/>
                <a:ea typeface="Calibri"/>
                <a:cs typeface="Calibri"/>
              </a:rPr>
              <a:t>Project Status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46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13E46-2480-5946-607E-593D15B9D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40" y="2319928"/>
            <a:ext cx="11088997" cy="42936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Current Project Status: Yellow</a:t>
            </a:r>
          </a:p>
          <a:p>
            <a:pPr lvl="1">
              <a:buFont typeface="Courier New"/>
              <a:buChar char="o"/>
            </a:pPr>
            <a:r>
              <a:rPr lang="en-CA" sz="1600">
                <a:highlight>
                  <a:srgbClr val="FFFFFF"/>
                </a:highlight>
                <a:latin typeface="Aptos"/>
                <a:cs typeface="Times New Roman"/>
              </a:rPr>
              <a:t>The frontend is mostly done, backend is still in progress</a:t>
            </a:r>
          </a:p>
          <a:p>
            <a:pPr lvl="1">
              <a:buFont typeface="Courier New"/>
              <a:buChar char="o"/>
            </a:pPr>
            <a:endParaRPr lang="en-CA" sz="1600">
              <a:highlight>
                <a:srgbClr val="FFFFFF"/>
              </a:highlight>
              <a:latin typeface="Aptos"/>
              <a:cs typeface="Times New Roman"/>
            </a:endParaRPr>
          </a:p>
          <a:p>
            <a:pPr marL="457200" lvl="1" indent="0">
              <a:buNone/>
            </a:pPr>
            <a:endParaRPr lang="en-CA" sz="1600">
              <a:highlight>
                <a:srgbClr val="FFFFFF"/>
              </a:highlight>
              <a:cs typeface="Times New Roman"/>
            </a:endParaRPr>
          </a:p>
          <a:p>
            <a:r>
              <a:rPr lang="en-US"/>
              <a:t>Activities to be achieved next week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CA" sz="1600">
                <a:highlight>
                  <a:srgbClr val="FFFFFF"/>
                </a:highlight>
                <a:latin typeface="Aptos"/>
                <a:cs typeface="Times New Roman"/>
              </a:rPr>
              <a:t>Backend development which includes:</a:t>
            </a:r>
            <a:endParaRPr lang="en-US" sz="1600">
              <a:highlight>
                <a:srgbClr val="FFFFFF"/>
              </a:highlight>
              <a:latin typeface="Aptos"/>
              <a:cs typeface="Times New Roman"/>
            </a:endParaRPr>
          </a:p>
          <a:p>
            <a:pPr lvl="1">
              <a:buFont typeface="Courier New"/>
              <a:buChar char="o"/>
            </a:pPr>
            <a:r>
              <a:rPr lang="en-CA" sz="1600">
                <a:highlight>
                  <a:srgbClr val="FFFFFF"/>
                </a:highlight>
                <a:latin typeface="Aptos"/>
                <a:cs typeface="Times New Roman"/>
              </a:rPr>
              <a:t>Delivering envisioned MVPs</a:t>
            </a:r>
            <a:endParaRPr lang="en-US" sz="1600">
              <a:highlight>
                <a:srgbClr val="FFFFFF"/>
              </a:highlight>
              <a:latin typeface="Aptos"/>
              <a:cs typeface="Times New Roman"/>
            </a:endParaRPr>
          </a:p>
          <a:p>
            <a:pPr lvl="1">
              <a:buFont typeface="Courier New"/>
              <a:buChar char="o"/>
            </a:pPr>
            <a:r>
              <a:rPr lang="en-CA" sz="1600">
                <a:highlight>
                  <a:srgbClr val="FFFFFF"/>
                </a:highlight>
                <a:latin typeface="Aptos"/>
                <a:cs typeface="Times New Roman"/>
              </a:rPr>
              <a:t>Add Database </a:t>
            </a:r>
            <a:endParaRPr lang="en-US" sz="1600">
              <a:highlight>
                <a:srgbClr val="FFFFFF"/>
              </a:highlight>
              <a:latin typeface="Aptos"/>
              <a:cs typeface="Times New Roman"/>
            </a:endParaRPr>
          </a:p>
          <a:p>
            <a:pPr lvl="1">
              <a:buFont typeface="Courier New"/>
              <a:buChar char="o"/>
            </a:pPr>
            <a:r>
              <a:rPr lang="en-CA" sz="1600">
                <a:highlight>
                  <a:srgbClr val="FFFFFF"/>
                </a:highlight>
                <a:latin typeface="Aptos"/>
                <a:cs typeface="Times New Roman"/>
              </a:rPr>
              <a:t>Implement API for food suggestion</a:t>
            </a:r>
            <a:endParaRPr lang="en-US" sz="1600">
              <a:highlight>
                <a:srgbClr val="FFFFFF"/>
              </a:highlight>
              <a:latin typeface="Aptos"/>
              <a:cs typeface="Times New Roman"/>
            </a:endParaRPr>
          </a:p>
          <a:p>
            <a:pPr marL="0" indent="0">
              <a:buNone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509627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5666830-9A19-4E01-8505-D6C7F9AC5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group of colorful blocks&#10;&#10;AI-generated content may be incorrect.">
            <a:extLst>
              <a:ext uri="{FF2B5EF4-FFF2-40B4-BE49-F238E27FC236}">
                <a16:creationId xmlns:a16="http://schemas.microsoft.com/office/drawing/2014/main" id="{73B969A8-400C-9485-2651-8F9794A08C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1338" r="-1" b="-1"/>
          <a:stretch>
            <a:fillRect/>
          </a:stretch>
        </p:blipFill>
        <p:spPr>
          <a:xfrm>
            <a:off x="4110127" y="10"/>
            <a:ext cx="8081873" cy="6857990"/>
          </a:xfrm>
          <a:custGeom>
            <a:avLst/>
            <a:gdLst/>
            <a:ahLst/>
            <a:cxnLst/>
            <a:rect l="l" t="t" r="r" b="b"/>
            <a:pathLst>
              <a:path w="8081873" h="6858000">
                <a:moveTo>
                  <a:pt x="0" y="0"/>
                </a:moveTo>
                <a:lnTo>
                  <a:pt x="8081873" y="0"/>
                </a:lnTo>
                <a:lnTo>
                  <a:pt x="8081873" y="6858000"/>
                </a:lnTo>
                <a:lnTo>
                  <a:pt x="0" y="6858000"/>
                </a:lnTo>
                <a:lnTo>
                  <a:pt x="68897" y="6734633"/>
                </a:lnTo>
                <a:cubicBezTo>
                  <a:pt x="558802" y="5812845"/>
                  <a:pt x="848920" y="4668597"/>
                  <a:pt x="848920" y="3429000"/>
                </a:cubicBezTo>
                <a:cubicBezTo>
                  <a:pt x="848920" y="2189404"/>
                  <a:pt x="558802" y="1045156"/>
                  <a:pt x="68897" y="123368"/>
                </a:cubicBezTo>
                <a:close/>
              </a:path>
            </a:pathLst>
          </a:custGeom>
        </p:spPr>
      </p:pic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AE9FC877-7FB6-4D22-9988-35420644E2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E41809D1-F12E-46BB-B804-5F209D325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789F7E-020F-C7C2-48C0-84570BC94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Work-in Progress Demo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2703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F4924-0955-25EF-DBD0-2BA3A646A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161D7-B845-1B54-E3EA-A1502C78E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934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>
                <a:solidFill>
                  <a:srgbClr val="333333"/>
                </a:solidFill>
                <a:highlight>
                  <a:srgbClr val="FFFFFF"/>
                </a:highlight>
                <a:latin typeface="Aptos"/>
                <a:cs typeface="Times New Roman"/>
              </a:rPr>
              <a:t>Self-Reflection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CBDCCB-E960-CC13-1728-484C96059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564"/>
            <a:ext cx="10515600" cy="454183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1600" b="1">
                <a:solidFill>
                  <a:srgbClr val="333333"/>
                </a:solidFill>
                <a:highlight>
                  <a:srgbClr val="FFFFFF"/>
                </a:highlight>
                <a:latin typeface="Aptos"/>
                <a:ea typeface="+mn-lt"/>
                <a:cs typeface="Times New Roman"/>
              </a:rPr>
              <a:t>How did we feel about this activity?</a:t>
            </a:r>
            <a:endParaRPr lang="en-US" b="1">
              <a:solidFill>
                <a:srgbClr val="000000"/>
              </a:solidFill>
              <a:latin typeface="Aptos"/>
              <a:ea typeface="+mn-lt"/>
              <a:cs typeface="Times New Roman"/>
            </a:endParaRPr>
          </a:p>
          <a:p>
            <a:pPr lvl="1">
              <a:lnSpc>
                <a:spcPct val="200000"/>
              </a:lnSpc>
              <a:buFont typeface="Courier New" panose="020B0604020202020204" pitchFamily="34" charset="0"/>
              <a:buChar char="o"/>
            </a:pPr>
            <a:r>
              <a:rPr lang="en-US" sz="1400">
                <a:solidFill>
                  <a:srgbClr val="333333"/>
                </a:solidFill>
                <a:highlight>
                  <a:srgbClr val="FFFFFF"/>
                </a:highlight>
                <a:latin typeface="Aptos"/>
                <a:ea typeface="+mn-lt"/>
                <a:cs typeface="Times New Roman"/>
              </a:rPr>
              <a:t>The project was overwhelming initially but breaking it into smaller components (MVC framework) helped us to become more confident.</a:t>
            </a:r>
            <a:endParaRPr lang="en-US" sz="1400">
              <a:latin typeface="Aptos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>
                <a:solidFill>
                  <a:srgbClr val="333333"/>
                </a:solidFill>
                <a:highlight>
                  <a:srgbClr val="FFFFFF"/>
                </a:highlight>
                <a:latin typeface="Aptos"/>
                <a:ea typeface="+mn-lt"/>
                <a:cs typeface="Times New Roman"/>
              </a:rPr>
              <a:t>Stuck to a progression similar to the one in the lab</a:t>
            </a:r>
            <a:endParaRPr lang="en-US" sz="1400">
              <a:solidFill>
                <a:srgbClr val="000000"/>
              </a:solidFill>
              <a:highlight>
                <a:srgbClr val="FFFFFF"/>
              </a:highlight>
              <a:latin typeface="Aptos"/>
              <a:ea typeface="+mn-lt"/>
              <a:cs typeface="Times New Roman"/>
            </a:endParaRPr>
          </a:p>
          <a:p>
            <a:pPr lvl="1">
              <a:lnSpc>
                <a:spcPct val="200000"/>
              </a:lnSpc>
              <a:buFont typeface="Courier New" panose="020B0604020202020204" pitchFamily="34" charset="0"/>
              <a:buChar char="o"/>
            </a:pPr>
            <a:r>
              <a:rPr lang="en-US" sz="1400">
                <a:solidFill>
                  <a:srgbClr val="333333"/>
                </a:solidFill>
                <a:highlight>
                  <a:srgbClr val="FFFFFF"/>
                </a:highlight>
                <a:latin typeface="Aptos"/>
                <a:ea typeface="+mn-lt"/>
                <a:cs typeface="Times New Roman"/>
              </a:rPr>
              <a:t>It brought about more team collaboration</a:t>
            </a:r>
          </a:p>
          <a:p>
            <a:pPr>
              <a:lnSpc>
                <a:spcPct val="200000"/>
              </a:lnSpc>
            </a:pPr>
            <a:r>
              <a:rPr lang="en-US" sz="1600" b="1">
                <a:solidFill>
                  <a:srgbClr val="333333"/>
                </a:solidFill>
                <a:highlight>
                  <a:srgbClr val="FFFFFF"/>
                </a:highlight>
                <a:latin typeface="Aptos"/>
                <a:ea typeface="+mn-lt"/>
                <a:cs typeface="Times New Roman"/>
              </a:rPr>
              <a:t>What did we like about it? </a:t>
            </a:r>
          </a:p>
          <a:p>
            <a:pPr lvl="1">
              <a:lnSpc>
                <a:spcPct val="200000"/>
              </a:lnSpc>
              <a:buFont typeface="Courier New" panose="020B0604020202020204" pitchFamily="34" charset="0"/>
              <a:buChar char="o"/>
            </a:pPr>
            <a:r>
              <a:rPr lang="en-US" sz="1400">
                <a:solidFill>
                  <a:srgbClr val="333333"/>
                </a:solidFill>
                <a:highlight>
                  <a:srgbClr val="FFFFFF"/>
                </a:highlight>
                <a:latin typeface="Aptos"/>
                <a:ea typeface="+mn-lt"/>
                <a:cs typeface="Times New Roman"/>
              </a:rPr>
              <a:t>The practical work was informative.</a:t>
            </a:r>
            <a:endParaRPr lang="en-US" sz="1400">
              <a:solidFill>
                <a:srgbClr val="333333"/>
              </a:solidFill>
              <a:highlight>
                <a:srgbClr val="FFFFFF"/>
              </a:highlight>
              <a:latin typeface="Aptos"/>
              <a:cs typeface="Times New Roman"/>
            </a:endParaRPr>
          </a:p>
          <a:p>
            <a:pPr>
              <a:lnSpc>
                <a:spcPct val="200000"/>
              </a:lnSpc>
            </a:pPr>
            <a:r>
              <a:rPr lang="en-US" sz="1600">
                <a:solidFill>
                  <a:srgbClr val="333333"/>
                </a:solidFill>
                <a:highlight>
                  <a:srgbClr val="FFFFFF"/>
                </a:highlight>
                <a:latin typeface="Aptos"/>
                <a:ea typeface="+mn-lt"/>
                <a:cs typeface="Times New Roman"/>
              </a:rPr>
              <a:t> </a:t>
            </a:r>
            <a:r>
              <a:rPr lang="en-US" sz="1600" b="1">
                <a:solidFill>
                  <a:srgbClr val="333333"/>
                </a:solidFill>
                <a:highlight>
                  <a:srgbClr val="FFFFFF"/>
                </a:highlight>
                <a:latin typeface="Aptos"/>
                <a:ea typeface="+mn-lt"/>
                <a:cs typeface="Times New Roman"/>
              </a:rPr>
              <a:t>What did we dislike about it?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>
                <a:solidFill>
                  <a:srgbClr val="333333"/>
                </a:solidFill>
                <a:highlight>
                  <a:srgbClr val="FFFFFF"/>
                </a:highlight>
                <a:latin typeface="Aptos"/>
                <a:cs typeface="Times New Roman"/>
              </a:rPr>
              <a:t>Collaborating while coding can be messy</a:t>
            </a:r>
          </a:p>
          <a:p>
            <a:pPr marL="0" indent="0">
              <a:buNone/>
            </a:pPr>
            <a:endParaRPr lang="en-US" sz="110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086854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11A43-971A-9BEA-8013-CC585284B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>
                <a:solidFill>
                  <a:srgbClr val="333333"/>
                </a:solidFill>
                <a:highlight>
                  <a:srgbClr val="FFFFFF"/>
                </a:highlight>
                <a:latin typeface="Aptos"/>
                <a:cs typeface="Times New Roman"/>
              </a:rPr>
              <a:t>Self-Reflection Continued</a:t>
            </a:r>
            <a:endParaRPr lang="en-US"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C695F-CDF4-26F9-37AE-BD2DBEAFC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1600" b="1">
                <a:solidFill>
                  <a:srgbClr val="333333"/>
                </a:solidFill>
                <a:highlight>
                  <a:srgbClr val="FFFFFF"/>
                </a:highlight>
                <a:latin typeface="Aptos"/>
                <a:cs typeface="Times New Roman"/>
              </a:rPr>
              <a:t>What did we learn about yourself as we collaborated and worked on this activity?</a:t>
            </a:r>
            <a:endParaRPr lang="en-US" sz="1600" b="1">
              <a:latin typeface="Aptos"/>
              <a:cs typeface="Times New Roman"/>
            </a:endParaRPr>
          </a:p>
          <a:p>
            <a:pPr lvl="1">
              <a:lnSpc>
                <a:spcPct val="200000"/>
              </a:lnSpc>
              <a:buFont typeface="Courier New" panose="020B0604020202020204" pitchFamily="34" charset="0"/>
              <a:buChar char="o"/>
            </a:pPr>
            <a:r>
              <a:rPr lang="en-US" sz="1400">
                <a:ea typeface="+mn-lt"/>
                <a:cs typeface="+mn-lt"/>
              </a:rPr>
              <a:t>We learned that listening to others’ ideas leads to better results.</a:t>
            </a:r>
            <a:endParaRPr lang="en-US" sz="1400"/>
          </a:p>
          <a:p>
            <a:pPr lvl="1">
              <a:lnSpc>
                <a:spcPct val="200000"/>
              </a:lnSpc>
              <a:buFont typeface="Courier New" panose="020B0604020202020204" pitchFamily="34" charset="0"/>
              <a:buChar char="o"/>
            </a:pP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We realized we are good at problem-solving and staying focused under pressure.</a:t>
            </a:r>
            <a:endParaRPr lang="en-US" sz="1400"/>
          </a:p>
          <a:p>
            <a:pPr>
              <a:lnSpc>
                <a:spcPct val="200000"/>
              </a:lnSpc>
            </a:pPr>
            <a:r>
              <a:rPr lang="en-US" sz="1600" b="1">
                <a:solidFill>
                  <a:srgbClr val="333333"/>
                </a:solidFill>
                <a:highlight>
                  <a:srgbClr val="FFFFFF"/>
                </a:highlight>
                <a:latin typeface="Aptos"/>
                <a:cs typeface="Times New Roman"/>
              </a:rPr>
              <a:t>How will you use (or not use) what you have learned/experienced in this activity going forward?</a:t>
            </a:r>
            <a:endParaRPr lang="en-US" sz="1600" b="1">
              <a:latin typeface="Aptos"/>
              <a:cs typeface="Times New Roman"/>
            </a:endParaRPr>
          </a:p>
          <a:p>
            <a:pPr lvl="1">
              <a:lnSpc>
                <a:spcPct val="200000"/>
              </a:lnSpc>
              <a:buFont typeface="Courier New" panose="020B0604020202020204" pitchFamily="34" charset="0"/>
              <a:buChar char="o"/>
            </a:pPr>
            <a:r>
              <a:rPr lang="en-US" sz="1400">
                <a:solidFill>
                  <a:srgbClr val="333333"/>
                </a:solidFill>
                <a:highlight>
                  <a:srgbClr val="FFFFFF"/>
                </a:highlight>
                <a:latin typeface="Aptos"/>
                <a:cs typeface="Times New Roman"/>
              </a:rPr>
              <a:t>We'll be more confident tackling unfamiliar problems</a:t>
            </a:r>
          </a:p>
          <a:p>
            <a:pPr>
              <a:lnSpc>
                <a:spcPct val="200000"/>
              </a:lnSpc>
            </a:pPr>
            <a:r>
              <a:rPr lang="en-US" sz="1600" b="1">
                <a:solidFill>
                  <a:srgbClr val="333333"/>
                </a:solidFill>
                <a:highlight>
                  <a:srgbClr val="FFFFFF"/>
                </a:highlight>
                <a:latin typeface="Aptos"/>
                <a:cs typeface="Times New Roman"/>
              </a:rPr>
              <a:t>What "stuff &amp; things" related to this activity would you like more help with?</a:t>
            </a:r>
          </a:p>
          <a:p>
            <a:pPr lvl="1">
              <a:lnSpc>
                <a:spcPct val="200000"/>
              </a:lnSpc>
              <a:buFont typeface="Courier New" panose="020B0604020202020204" pitchFamily="34" charset="0"/>
              <a:buChar char="o"/>
            </a:pPr>
            <a:r>
              <a:rPr lang="en-US" sz="1400">
                <a:solidFill>
                  <a:srgbClr val="333333"/>
                </a:solidFill>
                <a:highlight>
                  <a:srgbClr val="FFFFFF"/>
                </a:highlight>
                <a:latin typeface="Aptos"/>
                <a:cs typeface="Times New Roman"/>
              </a:rPr>
              <a:t>'Ingredient Matching' logic</a:t>
            </a:r>
          </a:p>
          <a:p>
            <a:pPr lvl="1">
              <a:lnSpc>
                <a:spcPct val="200000"/>
              </a:lnSpc>
              <a:buFont typeface="Courier New" panose="020B0604020202020204" pitchFamily="34" charset="0"/>
              <a:buChar char="o"/>
            </a:pPr>
            <a:r>
              <a:rPr lang="en-US" sz="1400">
                <a:solidFill>
                  <a:srgbClr val="333333"/>
                </a:solidFill>
                <a:highlight>
                  <a:srgbClr val="FFFFFF"/>
                </a:highlight>
                <a:latin typeface="Aptos"/>
                <a:cs typeface="Times New Roman"/>
              </a:rPr>
              <a:t>Recommendations on what to buy – out of scope?</a:t>
            </a:r>
          </a:p>
        </p:txBody>
      </p:sp>
    </p:spTree>
    <p:extLst>
      <p:ext uri="{BB962C8B-B14F-4D97-AF65-F5344CB8AC3E}">
        <p14:creationId xmlns:p14="http://schemas.microsoft.com/office/powerpoint/2010/main" val="3880066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Vielen Dank Gruß Karte - Kostenloses Bild auf Pixabay">
            <a:extLst>
              <a:ext uri="{FF2B5EF4-FFF2-40B4-BE49-F238E27FC236}">
                <a16:creationId xmlns:a16="http://schemas.microsoft.com/office/drawing/2014/main" id="{D21BD997-8EC2-06E8-15D0-A5F257908B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495"/>
          <a:stretch>
            <a:fillRect/>
          </a:stretch>
        </p:blipFill>
        <p:spPr>
          <a:xfrm>
            <a:off x="-161616" y="10"/>
            <a:ext cx="12191980" cy="6857990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9875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Group I Project Progress Scrum/Check In </vt:lpstr>
      <vt:lpstr>Kitchen Sync</vt:lpstr>
      <vt:lpstr>Project Status</vt:lpstr>
      <vt:lpstr>Work-in Progress Demo</vt:lpstr>
      <vt:lpstr>Self-Reflection</vt:lpstr>
      <vt:lpstr>Self-Reflection Continued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</cp:revision>
  <dcterms:created xsi:type="dcterms:W3CDTF">2026-03-18T04:54:04Z</dcterms:created>
  <dcterms:modified xsi:type="dcterms:W3CDTF">2026-03-18T20:22:17Z</dcterms:modified>
</cp:coreProperties>
</file>