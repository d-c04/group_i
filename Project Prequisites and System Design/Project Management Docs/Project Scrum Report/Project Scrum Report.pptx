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64" r:id="rId3"/>
    <p:sldId id="257" r:id="rId4"/>
    <p:sldId id="258" r:id="rId5"/>
    <p:sldId id="265" r:id="rId6"/>
    <p:sldId id="266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D6037-C7A1-1FEB-E8DD-D28005856CFA}" v="121" dt="2026-03-04T05:52:55.458"/>
    <p1510:client id="{2187E8BE-9E7A-4B69-B581-E8C2865D6BBC}" v="944" dt="2026-03-04T05:51:41.900"/>
    <p1510:client id="{2DAF3831-9A17-DB8C-39A4-D0DDA92D38C0}" v="218" dt="2026-03-04T07:00:25.232"/>
    <p1510:client id="{472D879F-B287-E65A-0C06-79715B5A6C26}" v="1" dt="2026-03-04T22:12:55.633"/>
    <p1510:client id="{5A7B8DB4-F777-C545-E4CD-FEB756508BA2}" v="272" dt="2026-03-03T01:38:41.703"/>
    <p1510:client id="{E7981490-6EC8-1B25-F8F4-32037203FF75}" v="932" dt="2026-03-04T22:15:08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89864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124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573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6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0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1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66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0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900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1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00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27" r:id="rId6"/>
    <p:sldLayoutId id="2147483723" r:id="rId7"/>
    <p:sldLayoutId id="2147483724" r:id="rId8"/>
    <p:sldLayoutId id="2147483725" r:id="rId9"/>
    <p:sldLayoutId id="2147483726" r:id="rId10"/>
    <p:sldLayoutId id="2147483728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figma.com/proto/bHsa997kkMHlYxyliYJzTn/Group-I----High-Fidelity-Prototype?node-id=154-220&amp;p=f&amp;t=QUnpofCzeDUoLKsn-1&amp;scaling=scale-down&amp;content-scaling=fixed&amp;page-id=0%3A1&amp;starting-point-node-id=49%3A2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905C695-F54E-4EF8-8AEF-811D460E7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5CD2A3-2099-476E-9A85-55DC735FA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159026"/>
            <a:ext cx="5938866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2988" y="1633416"/>
            <a:ext cx="4924891" cy="2077328"/>
          </a:xfrm>
        </p:spPr>
        <p:txBody>
          <a:bodyPr>
            <a:normAutofit/>
          </a:bodyPr>
          <a:lstStyle/>
          <a:p>
            <a:r>
              <a:rPr lang="en-US"/>
              <a:t>Group I</a:t>
            </a:r>
            <a:br>
              <a:rPr lang="en-US"/>
            </a:br>
            <a:r>
              <a:rPr lang="en-US"/>
              <a:t> </a:t>
            </a:r>
            <a:br>
              <a:rPr lang="en-US"/>
            </a:br>
            <a:r>
              <a:rPr lang="en-US"/>
              <a:t>project scrum/Report-out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44896" y="4876803"/>
            <a:ext cx="4241074" cy="1233323"/>
          </a:xfrm>
        </p:spPr>
        <p:txBody>
          <a:bodyPr anchor="t">
            <a:normAutofit/>
          </a:bodyPr>
          <a:lstStyle/>
          <a:p>
            <a:r>
              <a:rPr lang="en-US"/>
              <a:t>Deran Cross, Zifran Chowdhury, Ikechukwu </a:t>
            </a:r>
            <a:r>
              <a:rPr lang="en-US" err="1"/>
              <a:t>Ogowui</a:t>
            </a:r>
            <a:r>
              <a:rPr lang="en-US"/>
              <a:t>, Emmanuel Dairo</a:t>
            </a:r>
          </a:p>
          <a:p>
            <a:endParaRPr lang="en-US">
              <a:solidFill>
                <a:srgbClr val="FF000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76B57A0-B135-D248-4A68-6F77091A86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428" b="4"/>
          <a:stretch>
            <a:fillRect/>
          </a:stretch>
        </p:blipFill>
        <p:spPr>
          <a:xfrm>
            <a:off x="20" y="10"/>
            <a:ext cx="5938847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92979E8-2E86-433E-A7E4-5F102E45A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31691" y="4237480"/>
            <a:ext cx="867485" cy="115439"/>
            <a:chOff x="8910933" y="1861308"/>
            <a:chExt cx="867485" cy="11543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DDEF0D5-EF9F-43D4-BF40-27A3121E0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1438B34-2B34-4614-B3B4-D09927150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691BDB-93D3-4721-903C-45DD9590F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72018-29AB-4CC1-B306-B1DE6E63C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Quick 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FD307-3BB7-184F-66DF-E37E51BD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44074" y="2057951"/>
            <a:ext cx="4383030" cy="3312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 algn="l">
              <a:buFont typeface="Arial"/>
              <a:buChar char="•"/>
            </a:pPr>
            <a:endParaRPr lang="en-US" sz="1600" b="1">
              <a:solidFill>
                <a:srgbClr val="303030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b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The Problem:</a:t>
            </a:r>
            <a:r>
              <a:rPr lang="en-US" sz="18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 Household food waste and stressful meal planning</a:t>
            </a:r>
            <a:endParaRPr lang="en-US" sz="1800"/>
          </a:p>
          <a:p>
            <a:pPr algn="l"/>
            <a:endParaRPr lang="en-US" sz="1800">
              <a:solidFill>
                <a:srgbClr val="303030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b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Our Solution:</a:t>
            </a:r>
            <a:r>
              <a:rPr lang="en-US" sz="18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1800" err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KitchenSync</a:t>
            </a:r>
            <a:r>
              <a:rPr lang="en-US" sz="18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, an inventory tracking and recipe web app</a:t>
            </a:r>
            <a:endParaRPr lang="en-US" sz="1800"/>
          </a:p>
          <a:p>
            <a:pPr algn="l"/>
            <a:endParaRPr lang="en-US" sz="1800">
              <a:solidFill>
                <a:srgbClr val="303030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b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Core MVP Features:</a:t>
            </a:r>
            <a:endParaRPr lang="en-US" sz="1800"/>
          </a:p>
          <a:p>
            <a:pPr marL="742950" lvl="1" indent="-285750">
              <a:buFont typeface="Arial"/>
              <a:buChar char="•"/>
            </a:pPr>
            <a:r>
              <a:rPr lang="en-US" sz="18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Allow users to input and track their food items.</a:t>
            </a:r>
            <a:endParaRPr lang="en-US"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800">
                <a:solidFill>
                  <a:srgbClr val="303030"/>
                </a:solidFill>
                <a:highlight>
                  <a:srgbClr val="FFFFFF"/>
                </a:highlight>
              </a:rPr>
              <a:t>Receive automated expiry notifications.</a:t>
            </a:r>
            <a:endParaRPr lang="en-US" sz="1800">
              <a:solidFill>
                <a:srgbClr val="898989"/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800">
                <a:solidFill>
                  <a:srgbClr val="303030"/>
                </a:solidFill>
                <a:highlight>
                  <a:srgbClr val="FFFFFF"/>
                </a:highlight>
              </a:rPr>
              <a:t>Generate, browse, filter, and save recipes based on inventory.</a:t>
            </a:r>
            <a:endParaRPr lang="en-US" sz="1800">
              <a:solidFill>
                <a:srgbClr val="898989"/>
              </a:solidFill>
            </a:endParaRPr>
          </a:p>
          <a:p>
            <a:endParaRPr lang="en-US" sz="1600">
              <a:solidFill>
                <a:srgbClr val="303030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en-US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02599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D795A-406B-1728-755A-DA56E736D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DEB8E-9D14-7DCB-B10E-FB30F0BB9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85750">
              <a:buFont typeface="Arial"/>
              <a:buChar char="•"/>
            </a:pPr>
            <a:r>
              <a:rPr lang="en-US" sz="1800" b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Scope &amp; Requirements:</a:t>
            </a:r>
            <a:r>
              <a:rPr lang="en-US" sz="18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 Delivering an MVC web application within a two-month timeframe and chosen tech stack (MongoDB/Mongoose, HTML/CSS/EJS, Node.js/Express, Desktop/Mobile compatibility)</a:t>
            </a:r>
            <a:endParaRPr lang="en-US"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endParaRPr lang="en-US" sz="1800">
              <a:solidFill>
                <a:srgbClr val="303030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Team Roles and Responsibilities: </a:t>
            </a:r>
            <a:r>
              <a:rPr lang="en-US" sz="18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Dividing up tasks and technical duties</a:t>
            </a:r>
          </a:p>
          <a:p>
            <a:pPr marL="560070" lvl="1" indent="-285750">
              <a:buFont typeface="Courier New"/>
              <a:buChar char="o"/>
            </a:pPr>
            <a:r>
              <a:rPr lang="en-US" sz="16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Deran: Product Manager, Scrum Master</a:t>
            </a:r>
          </a:p>
          <a:p>
            <a:pPr marL="560070" lvl="1" indent="-285750">
              <a:buFont typeface="Courier New"/>
              <a:buChar char="o"/>
            </a:pPr>
            <a:r>
              <a:rPr lang="en-US" sz="1600" err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Zifran</a:t>
            </a:r>
            <a:r>
              <a:rPr lang="en-US" sz="16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: Backend Engineer, Quality Assurance</a:t>
            </a:r>
          </a:p>
          <a:p>
            <a:pPr marL="560070" lvl="1" indent="-285750">
              <a:buFont typeface="Courier New"/>
              <a:buChar char="o"/>
            </a:pPr>
            <a:r>
              <a:rPr lang="en-US" sz="16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Ikechukwu: Full-stack Developer</a:t>
            </a:r>
          </a:p>
          <a:p>
            <a:pPr marL="560070" lvl="1" indent="-285750">
              <a:buFont typeface="Courier New"/>
              <a:buChar char="o"/>
            </a:pPr>
            <a:r>
              <a:rPr lang="en-US" sz="16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Emmanuel: Full-stack Developer</a:t>
            </a:r>
          </a:p>
          <a:p>
            <a:endParaRPr lang="en-US" sz="1800" b="1">
              <a:solidFill>
                <a:srgbClr val="303030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Agile Approach:</a:t>
            </a:r>
            <a:r>
              <a:rPr lang="en-US" sz="18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 Using a GitHub Kanban board to track features, user experiences, and overall MVP progress</a:t>
            </a:r>
            <a:endParaRPr lang="en-US" sz="1800"/>
          </a:p>
          <a:p>
            <a:endParaRPr lang="en-US" sz="1600">
              <a:solidFill>
                <a:srgbClr val="303030"/>
              </a:solidFill>
              <a:highlight>
                <a:srgbClr val="FFFFFF"/>
              </a:highlight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6693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5739-7C46-4721-1F8C-A8BF5105B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64491-0D07-6C5F-CB09-440548F4B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1600">
              <a:solidFill>
                <a:srgbClr val="303030"/>
              </a:solidFill>
              <a:highlight>
                <a:srgbClr val="FFFFFF"/>
              </a:highlight>
            </a:endParaRPr>
          </a:p>
          <a:p>
            <a:endParaRPr lang="en-US" sz="1600">
              <a:solidFill>
                <a:srgbClr val="303030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en-US" sz="16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  <p:pic>
        <p:nvPicPr>
          <p:cNvPr id="4" name="Picture 3" descr="A diagram of a customer&#10;&#10;AI-generated content may be incorrect.">
            <a:extLst>
              <a:ext uri="{FF2B5EF4-FFF2-40B4-BE49-F238E27FC236}">
                <a16:creationId xmlns:a16="http://schemas.microsoft.com/office/drawing/2014/main" id="{F9EB8CF4-5CDF-ABCB-9261-8AC8FB5FC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41" y="241322"/>
            <a:ext cx="11523814" cy="64379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539CDE-A8A0-0DFA-82F5-0C86CBA42F8F}"/>
              </a:ext>
            </a:extLst>
          </p:cNvPr>
          <p:cNvSpPr txBox="1"/>
          <p:nvPr/>
        </p:nvSpPr>
        <p:spPr>
          <a:xfrm>
            <a:off x="2672218" y="4817301"/>
            <a:ext cx="424841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.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5365E7-359A-9378-2870-1502ED9808A0}"/>
              </a:ext>
            </a:extLst>
          </p:cNvPr>
          <p:cNvSpPr txBox="1"/>
          <p:nvPr/>
        </p:nvSpPr>
        <p:spPr>
          <a:xfrm>
            <a:off x="563053" y="553750"/>
            <a:ext cx="3267311" cy="8156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>
                <a:solidFill>
                  <a:srgbClr val="2C2830"/>
                </a:solidFill>
              </a:rPr>
              <a:t>Data Flow Diagram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37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C5CF3-CC47-6324-8D00-AC708F27E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38F2A8-0CE3-F10B-5810-EA02A5A5F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EC641F2-EEA8-CDB2-2C73-D7E9292EC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5E3CDEA-3ED3-7317-8CDF-7C7652F93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F56398-B8E5-99CC-750D-C810F1FE9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D0AC471-FC4E-1601-4430-6208C0F516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C43FCE9-ACB6-E4E7-9BB8-C7E39786D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41A49C-EA37-647B-6B9A-31EB664A1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902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DE3B7-3298-0D4E-5ABB-AF2B5EB35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61" y="1242129"/>
            <a:ext cx="7335079" cy="7256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cap="all" spc="390"/>
              <a:t>Our Hi-fi Prototype</a:t>
            </a:r>
            <a:endParaRPr lang="en-US" sz="4000" kern="1200" cap="all" spc="390" baseline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3ED77-1A99-A9EF-C128-C00960BFE668}"/>
              </a:ext>
            </a:extLst>
          </p:cNvPr>
          <p:cNvSpPr txBox="1"/>
          <p:nvPr/>
        </p:nvSpPr>
        <p:spPr>
          <a:xfrm>
            <a:off x="5312037" y="5841336"/>
            <a:ext cx="245796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2"/>
              </a:rPr>
              <a:t>Click to open</a:t>
            </a:r>
            <a:endParaRPr lang="en-US"/>
          </a:p>
        </p:txBody>
      </p:sp>
      <p:pic>
        <p:nvPicPr>
          <p:cNvPr id="7" name="Picture 6" descr="A qr code with a logo&#10;&#10;AI-generated content may be incorrect.">
            <a:extLst>
              <a:ext uri="{FF2B5EF4-FFF2-40B4-BE49-F238E27FC236}">
                <a16:creationId xmlns:a16="http://schemas.microsoft.com/office/drawing/2014/main" id="{FA7186CF-0803-7DBD-67B9-E1D7B790C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677" y="2151529"/>
            <a:ext cx="3529854" cy="349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29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2B0B2-8A18-2490-7820-82808455E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9B5D271-34C7-66FF-7D29-919B558AC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679B29-4129-B6CA-5760-51CA4BD72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10DA326-820A-F6E0-8A3D-75B007C3C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37DEE59-B2AB-03D6-152C-7E45778DE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D943300-0E99-8DFA-8161-88B369530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6910F92-D06D-4632-789E-BDC09BE8D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AF0FA1-A99C-2D3C-1116-2B6557CD6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902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12CDE-51C0-52EE-146A-5630F198E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61" y="1242129"/>
            <a:ext cx="7335079" cy="7256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cap="all" spc="390"/>
              <a:t>User Questionnaire</a:t>
            </a:r>
            <a:endParaRPr lang="en-US" sz="4000" kern="1200" cap="all" spc="390" baseline="0">
              <a:latin typeface="+mj-lt"/>
            </a:endParaRPr>
          </a:p>
        </p:txBody>
      </p:sp>
      <p:pic>
        <p:nvPicPr>
          <p:cNvPr id="5" name="Picture 4" descr="A qr code with a purple file&#10;&#10;AI-generated content may be incorrect.">
            <a:extLst>
              <a:ext uri="{FF2B5EF4-FFF2-40B4-BE49-F238E27FC236}">
                <a16:creationId xmlns:a16="http://schemas.microsoft.com/office/drawing/2014/main" id="{E3331E32-4F81-7497-3738-74010AD6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696" y="2330174"/>
            <a:ext cx="3445567" cy="340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493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5D01E-B90B-5713-AEC0-990B77037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A0A89-0DD1-5263-5288-55D4C6E3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7F3AC-459A-1330-D726-D888BB3788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6722" y="2155369"/>
            <a:ext cx="9715499" cy="399832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b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Overall Feelings:</a:t>
            </a:r>
            <a:r>
              <a:rPr lang="en-US" sz="18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endParaRPr lang="en-US" sz="1800">
              <a:solidFill>
                <a:srgbClr val="2C2830"/>
              </a:solidFill>
              <a:ea typeface="+mn-lt"/>
              <a:cs typeface="+mn-lt"/>
            </a:endParaRPr>
          </a:p>
          <a:p>
            <a:pPr marL="560070" lvl="1">
              <a:buFont typeface="Courier New"/>
              <a:buChar char="o"/>
            </a:pPr>
            <a:r>
              <a:rPr lang="en-US" sz="16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Enjoyed creating the visual look/UI prototypes, including Lo-fi sketches and Hi-fi design</a:t>
            </a:r>
            <a:endParaRPr lang="en-US" sz="1600">
              <a:solidFill>
                <a:srgbClr val="2C2830"/>
              </a:solidFill>
              <a:ea typeface="+mn-lt"/>
              <a:cs typeface="+mn-lt"/>
            </a:endParaRPr>
          </a:p>
          <a:p>
            <a:pPr marL="560070" lvl="1">
              <a:buFont typeface="Courier New"/>
              <a:buChar char="o"/>
            </a:pPr>
            <a:r>
              <a:rPr lang="en-US" sz="1600">
                <a:solidFill>
                  <a:srgbClr val="303030"/>
                </a:solidFill>
                <a:highlight>
                  <a:srgbClr val="FFFFFF"/>
                </a:highlight>
              </a:rPr>
              <a:t>Challenged by the learning curve of MVC architecture and tech stack</a:t>
            </a:r>
          </a:p>
          <a:p>
            <a:pPr marL="285750" indent="-285750">
              <a:buFont typeface="Arial"/>
              <a:buChar char="•"/>
            </a:pPr>
            <a:r>
              <a:rPr lang="en-US" sz="1800" b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Proudest Accomplishment:</a:t>
            </a:r>
            <a:r>
              <a:rPr lang="en-US" sz="18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endParaRPr lang="en-US" sz="1800">
              <a:solidFill>
                <a:srgbClr val="2C2830"/>
              </a:solidFill>
              <a:ea typeface="+mn-lt"/>
              <a:cs typeface="+mn-lt"/>
            </a:endParaRPr>
          </a:p>
          <a:p>
            <a:pPr marL="560070" lvl="1">
              <a:buFont typeface="Courier New"/>
              <a:buChar char="o"/>
            </a:pPr>
            <a:r>
              <a:rPr lang="en-US" sz="16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Successfully mapping out the app's features/system boundaries in our UML diagram</a:t>
            </a:r>
            <a:endParaRPr lang="en-US" sz="16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Lessons Learned:</a:t>
            </a:r>
            <a:r>
              <a:rPr lang="en-US" sz="18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endParaRPr lang="en-US" sz="1800">
              <a:solidFill>
                <a:srgbClr val="2C2830"/>
              </a:solidFill>
              <a:ea typeface="+mn-lt"/>
              <a:cs typeface="+mn-lt"/>
            </a:endParaRPr>
          </a:p>
          <a:p>
            <a:pPr marL="560070" lvl="1">
              <a:buFont typeface="Courier New"/>
              <a:buChar char="o"/>
            </a:pPr>
            <a:r>
              <a:rPr lang="en-US" sz="16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The </a:t>
            </a:r>
            <a:r>
              <a:rPr lang="en-US" sz="1600" err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importa</a:t>
            </a:r>
            <a:r>
              <a:rPr lang="en-US" sz="16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nce of documentation and clear communication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800" b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Moving Forward:</a:t>
            </a:r>
            <a:r>
              <a:rPr lang="en-US" sz="18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endParaRPr lang="en-US" sz="1800">
              <a:solidFill>
                <a:srgbClr val="2C2830"/>
              </a:solidFill>
              <a:ea typeface="+mn-lt"/>
              <a:cs typeface="+mn-lt"/>
            </a:endParaRPr>
          </a:p>
          <a:p>
            <a:pPr marL="560070" lvl="1">
              <a:buFont typeface="Courier New"/>
              <a:buChar char="o"/>
            </a:pPr>
            <a:r>
              <a:rPr lang="en-US" sz="16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Relying on our Kanban board and diagrams to guide our daily coding tasks</a:t>
            </a:r>
            <a:endParaRPr lang="en-US" sz="1600"/>
          </a:p>
          <a:p>
            <a:pPr marL="285750" indent="-285750">
              <a:buFont typeface="Arial,Sans-Serif"/>
              <a:buChar char="•"/>
            </a:pPr>
            <a:r>
              <a:rPr lang="en-US" sz="1800" b="1">
                <a:solidFill>
                  <a:srgbClr val="303030"/>
                </a:solidFill>
                <a:highlight>
                  <a:srgbClr val="FFFFFF"/>
                </a:highlight>
              </a:rPr>
              <a:t>Areas For Help:</a:t>
            </a:r>
            <a:r>
              <a:rPr lang="en-US" sz="1800">
                <a:solidFill>
                  <a:srgbClr val="303030"/>
                </a:solidFill>
                <a:highlight>
                  <a:srgbClr val="FFFFFF"/>
                </a:highlight>
              </a:rPr>
              <a:t> 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560070" lvl="1">
              <a:buFont typeface="Courier New,monospace"/>
              <a:buChar char="o"/>
            </a:pPr>
            <a:r>
              <a:rPr lang="en-US" sz="16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Connecting the visual app to our database, especially to get the recipe suggestions working smoothly</a:t>
            </a:r>
            <a:endParaRPr lang="en-US" sz="16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560070" lvl="1">
              <a:buFont typeface="Courier New"/>
              <a:buChar char="o"/>
            </a:pPr>
            <a:endParaRPr lang="en-US" sz="16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0">
              <a:buFontTx/>
              <a:buNone/>
            </a:pPr>
            <a:endParaRPr lang="en-US" sz="1400">
              <a:solidFill>
                <a:srgbClr val="333333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en-US" sz="1400">
              <a:solidFill>
                <a:srgbClr val="333333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en-US" sz="1100">
              <a:solidFill>
                <a:srgbClr val="333333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en-US" sz="1100">
              <a:solidFill>
                <a:srgbClr val="333333"/>
              </a:solidFill>
              <a:highlight>
                <a:srgbClr val="FFFFFF"/>
              </a:highlight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64876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18D39-1DDE-16CE-264A-F9FF2B099F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Thanks For Participating!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CC84F7-1121-B591-E3B6-F13F1E59BD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130983103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GC1">
      <a:dk1>
        <a:sysClr val="windowText" lastClr="000000"/>
      </a:dk1>
      <a:lt1>
        <a:sysClr val="window" lastClr="FFFFFF"/>
      </a:lt1>
      <a:dk2>
        <a:srgbClr val="2C2830"/>
      </a:dk2>
      <a:lt2>
        <a:srgbClr val="E0DCE1"/>
      </a:lt2>
      <a:accent1>
        <a:srgbClr val="908193"/>
      </a:accent1>
      <a:accent2>
        <a:srgbClr val="A08889"/>
      </a:accent2>
      <a:accent3>
        <a:srgbClr val="B48C7E"/>
      </a:accent3>
      <a:accent4>
        <a:srgbClr val="809C9B"/>
      </a:accent4>
      <a:accent5>
        <a:srgbClr val="899F91"/>
      </a:accent5>
      <a:accent6>
        <a:srgbClr val="728274"/>
      </a:accent6>
      <a:hlink>
        <a:srgbClr val="837585"/>
      </a:hlink>
      <a:folHlink>
        <a:srgbClr val="677E83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281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Arial,Sans-Serif</vt:lpstr>
      <vt:lpstr>Bembo</vt:lpstr>
      <vt:lpstr>Courier New</vt:lpstr>
      <vt:lpstr>Courier New,monospace</vt:lpstr>
      <vt:lpstr>AdornVTI</vt:lpstr>
      <vt:lpstr>Group I   project scrum/Report-out</vt:lpstr>
      <vt:lpstr>Quick Recap</vt:lpstr>
      <vt:lpstr>Project Planning</vt:lpstr>
      <vt:lpstr>PowerPoint Presentation</vt:lpstr>
      <vt:lpstr>Our Hi-fi Prototype</vt:lpstr>
      <vt:lpstr>User Questionnaire</vt:lpstr>
      <vt:lpstr>Team Reflection</vt:lpstr>
      <vt:lpstr>Thanks For Participating!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Dairo</dc:creator>
  <cp:lastModifiedBy>Emmanuel Dairo</cp:lastModifiedBy>
  <cp:revision>2</cp:revision>
  <dcterms:created xsi:type="dcterms:W3CDTF">2026-03-03T01:21:31Z</dcterms:created>
  <dcterms:modified xsi:type="dcterms:W3CDTF">2026-03-06T19:06:13Z</dcterms:modified>
</cp:coreProperties>
</file>