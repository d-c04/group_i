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44" r:id="rId5"/>
    <p:sldId id="371" r:id="rId6"/>
    <p:sldId id="351" r:id="rId7"/>
    <p:sldId id="369" r:id="rId8"/>
    <p:sldId id="352" r:id="rId9"/>
    <p:sldId id="354" r:id="rId10"/>
    <p:sldId id="350" r:id="rId11"/>
    <p:sldId id="366" r:id="rId12"/>
    <p:sldId id="370" r:id="rId13"/>
    <p:sldId id="3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A3D024-909B-3BC2-1496-FEEAB652808A}" name="Sher Dionisio" initials="" userId="S::Sher.Dionisio@teksystemsgs.com::02daa716-9709-4d47-a153-1943ce1675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D16C22-4BEC-BAA7-CD03-032A9139A2C0}" v="268" dt="2026-01-28T16:21:10.968"/>
    <p1510:client id="{3EBFA894-0069-F73E-FED8-C2C1747E9E9D}" v="212" dt="2026-01-28T15:46:55.632"/>
    <p1510:client id="{48D4D851-2F6D-4032-4CBF-D8D87C3E5FE3}" v="174" dt="2026-01-28T05:23:39.454"/>
    <p1510:client id="{55A3C529-FF23-69E6-BF58-DE24FEE69122}" v="53" dt="2026-01-28T19:58:07.586"/>
    <p1510:client id="{58973364-9979-C1CF-8C5D-99EE713255D0}" v="300" dt="2026-01-28T21:47:29.391"/>
    <p1510:client id="{62D5031F-736E-D48F-AE6F-80DC6B91EEAD}" v="363" dt="2026-01-28T05:31:08.706"/>
    <p1510:client id="{69929C7C-5E18-410B-A839-5C72B9AFF943}" v="5817" dt="2026-01-28T21:27:16.992"/>
    <p1510:client id="{7A8B566E-F3FC-4E68-8786-DC48AA9E566D}" v="774" dt="2026-01-28T21:22:36.815"/>
    <p1510:client id="{936DABB7-6D27-DD20-28E1-FE2B4FAD8339}" v="7" dt="2026-01-27T23:47:07.615"/>
    <p1510:client id="{9D1B8C71-6B8C-8A3E-3E68-F27637848ACB}" v="33" dt="2026-01-28T20:14:05.270"/>
    <p1510:client id="{BEF10AA4-C49A-C5CA-1C86-E6E3D7F21433}" v="61" dt="2026-01-27T23:43:45.629"/>
    <p1510:client id="{CEF86DAD-9CC5-2033-DC20-CC0D2EC663B6}" v="67" dt="2026-01-28T19:22:58.233"/>
  </p1510:revLst>
</p1510:revInfo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175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440F78-2C9E-4C7F-818C-B40BB19D3A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D3FB98-80B9-4155-809A-82659D34A0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18EB1-FF96-47AA-9A30-F1BFF2FFD1F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EF847-3492-4888-9C23-1504238536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48C54-2332-4748-9C65-6A27E550C1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75FB2-D12E-4669-8522-D3E2C7E6D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91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4A361-7934-4769-9B16-8A939698742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8E0B9-48E4-499D-93B2-B07D00395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04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9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67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09220-E71F-6A00-D840-877899A0C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44710-40C7-DA36-ECF5-69CEB29DC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13713-940A-F205-B590-15057CA7A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8CF57-286F-BB24-F955-5F1A70B6D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28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44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475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99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43514-33DF-EC8B-34EC-6A6171CC5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BAACE-5695-4ED4-0E4D-82EA7514F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728AB8-5AFA-E577-EE68-28A1B420A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35119-0D21-6AB6-BA84-3463242F9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178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98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A39D92-9919-A80E-44FF-6B912E85073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8788" y="457200"/>
            <a:ext cx="11274425" cy="5943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insert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2FF34D-C8F8-1796-647D-D17056A27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955" y="612475"/>
            <a:ext cx="4701904" cy="3079029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76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229E2-8757-94D8-A1B6-702189DC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3249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77143C8-CDFF-B937-C00C-5E7B50939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83920"/>
            <a:ext cx="4114800" cy="50596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2637A1-1BB4-AF51-24C3-6FE78DD45D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438400"/>
            <a:ext cx="4799012" cy="35052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57200" indent="0">
              <a:lnSpc>
                <a:spcPct val="125000"/>
              </a:lnSpc>
              <a:buNone/>
              <a:defRPr sz="1600"/>
            </a:lvl2pPr>
            <a:lvl3pPr marL="914400" indent="0">
              <a:lnSpc>
                <a:spcPct val="125000"/>
              </a:lnSpc>
              <a:buNone/>
              <a:defRPr sz="1400"/>
            </a:lvl3pPr>
            <a:lvl4pPr marL="1371600" indent="0">
              <a:lnSpc>
                <a:spcPct val="125000"/>
              </a:lnSpc>
              <a:buNone/>
              <a:defRPr sz="1200"/>
            </a:lvl4pPr>
            <a:lvl5pPr marL="1828800" indent="0">
              <a:lnSpc>
                <a:spcPct val="125000"/>
              </a:lnSpc>
              <a:buNone/>
              <a:defRPr sz="12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56F59DF2-AB3C-B7B3-826A-636B8CC5AB3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68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737016-0B2B-9F81-7A77-63223C486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34E572-08FE-0439-A460-8DFE1183A6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8742" y="914399"/>
            <a:ext cx="4798858" cy="502919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EB46EC-087C-B8FF-2363-B99FAE98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5713413" cy="50292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2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1D49246-C641-C3BA-F07B-89FFC6CDA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853439"/>
            <a:ext cx="4802373" cy="2833689"/>
          </a:xfrm>
        </p:spPr>
        <p:txBody>
          <a:bodyPr rIns="914400" anchor="b"/>
          <a:lstStyle>
            <a:lvl1pPr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BE7E1DF-A70C-8F79-9B76-72B2A7B4DC7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93191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D5F637-DFBF-7FED-7CD5-F46A26E5CD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33E3B934-3E16-21AF-8F5A-9EFD93255705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05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D872928-B479-F7C5-9C83-C448FBA36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20445"/>
            <a:ext cx="4114800" cy="50292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E3771A-E1EB-0CBE-828C-2C5E1F2AE6C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75227" y="1020445"/>
            <a:ext cx="4802735" cy="5029200"/>
          </a:xfrm>
        </p:spPr>
        <p:txBody>
          <a:bodyPr anchor="ctr">
            <a:normAutofit/>
          </a:bodyPr>
          <a:lstStyle>
            <a:lvl1pPr marL="22860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lvl1pPr>
            <a:lvl2pPr marL="41148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lvl2pPr>
            <a:lvl3pPr marL="59436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/>
            </a:lvl3pPr>
            <a:lvl4pPr marL="77724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4pPr>
            <a:lvl5pPr marL="96012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A1635D-96F0-769B-4ECB-70502770A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4F877767-0342-A344-0462-A0D877FF68F8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5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21F215D-0D9E-64B3-1F66-E90B87932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0741"/>
            <a:ext cx="4802372" cy="278891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E86A4459-11C2-44C6-0173-C666D5AADC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82523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4EF14-0982-D931-9DD6-ECFE61D5B0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7D7E927E-4F73-5579-4F1D-E13899DEEA0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6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0" y="2153285"/>
            <a:ext cx="4953001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09360" y="2153285"/>
            <a:ext cx="51358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5D7E8F5-692D-24DD-0F8C-9563BA74AAF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43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1" y="2153285"/>
            <a:ext cx="3261359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480560" y="2153285"/>
            <a:ext cx="69646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C0F1533-3810-C210-9B67-D2F4A1846C23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16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9C70371-D147-2B29-EAEB-B10A799D0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169" y="614812"/>
            <a:ext cx="10359659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AE226-98C6-70F4-8DED-59E8FE3040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67" y="2177378"/>
            <a:ext cx="5713413" cy="4669987"/>
          </a:xfrm>
          <a:custGeom>
            <a:avLst/>
            <a:gdLst>
              <a:gd name="connsiteX0" fmla="*/ 400038 w 5713413"/>
              <a:gd name="connsiteY0" fmla="*/ 0 h 4669987"/>
              <a:gd name="connsiteX1" fmla="*/ 5713413 w 5713413"/>
              <a:gd name="connsiteY1" fmla="*/ 0 h 4669987"/>
              <a:gd name="connsiteX2" fmla="*/ 5713413 w 5713413"/>
              <a:gd name="connsiteY2" fmla="*/ 4315224 h 4669987"/>
              <a:gd name="connsiteX3" fmla="*/ 400038 w 5713413"/>
              <a:gd name="connsiteY3" fmla="*/ 4315224 h 4669987"/>
              <a:gd name="connsiteX4" fmla="*/ 0 w 5713413"/>
              <a:gd name="connsiteY4" fmla="*/ 0 h 4669987"/>
              <a:gd name="connsiteX5" fmla="*/ 386684 w 5713413"/>
              <a:gd name="connsiteY5" fmla="*/ 0 h 4669987"/>
              <a:gd name="connsiteX6" fmla="*/ 386684 w 5713413"/>
              <a:gd name="connsiteY6" fmla="*/ 4328578 h 4669987"/>
              <a:gd name="connsiteX7" fmla="*/ 5713413 w 5713413"/>
              <a:gd name="connsiteY7" fmla="*/ 4328578 h 4669987"/>
              <a:gd name="connsiteX8" fmla="*/ 5713413 w 5713413"/>
              <a:gd name="connsiteY8" fmla="*/ 4669987 h 4669987"/>
              <a:gd name="connsiteX9" fmla="*/ 0 w 5713413"/>
              <a:gd name="connsiteY9" fmla="*/ 4669987 h 466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13413" h="4669987">
                <a:moveTo>
                  <a:pt x="400038" y="0"/>
                </a:moveTo>
                <a:lnTo>
                  <a:pt x="5713413" y="0"/>
                </a:lnTo>
                <a:lnTo>
                  <a:pt x="5713413" y="4315224"/>
                </a:lnTo>
                <a:lnTo>
                  <a:pt x="400038" y="4315224"/>
                </a:lnTo>
                <a:close/>
                <a:moveTo>
                  <a:pt x="0" y="0"/>
                </a:moveTo>
                <a:lnTo>
                  <a:pt x="386684" y="0"/>
                </a:lnTo>
                <a:lnTo>
                  <a:pt x="386684" y="4328578"/>
                </a:lnTo>
                <a:lnTo>
                  <a:pt x="5713413" y="4328578"/>
                </a:lnTo>
                <a:lnTo>
                  <a:pt x="5713413" y="4669987"/>
                </a:lnTo>
                <a:lnTo>
                  <a:pt x="0" y="46699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EEA9034-22FD-3C2F-6A27-6363896980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153285"/>
            <a:ext cx="4799012" cy="3790315"/>
          </a:xfrm>
        </p:spPr>
        <p:txBody>
          <a:bodyPr>
            <a:normAutofit/>
          </a:bodyPr>
          <a:lstStyle>
            <a:lvl1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2000"/>
            </a:lvl1pPr>
            <a:lvl2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800"/>
            </a:lvl2pPr>
            <a:lvl3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600"/>
            </a:lvl3pPr>
            <a:lvl4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4pPr>
            <a:lvl5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2AFED-AF5A-A2E9-0D36-388733BBE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7A42E613-3DCC-07A2-BA9B-74B13F28E59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0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30338E2-B50A-8F3E-2CA7-A75753E7E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629" y="598947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C8DD029-A673-92B9-0343-3B35BE46D2F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9641" y="2153285"/>
            <a:ext cx="3032759" cy="3790310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6E658BA3-0202-C705-7A02-8B70B788442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24400" y="2170621"/>
            <a:ext cx="6553200" cy="3772974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BD761E53-47C7-492A-D5B5-A8C2740B5157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5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2" y="2153285"/>
            <a:ext cx="6925660" cy="3500438"/>
          </a:xfrm>
        </p:spPr>
        <p:txBody>
          <a:bodyPr lIns="91440">
            <a:normAutofit/>
          </a:bodyPr>
          <a:lstStyle>
            <a:lvl1pPr marL="0" indent="0">
              <a:spcBef>
                <a:spcPts val="1000"/>
              </a:spcBef>
              <a:spcAft>
                <a:spcPts val="1200"/>
              </a:spcAft>
              <a:buNone/>
              <a:defRPr sz="1800" b="0"/>
            </a:lvl1pPr>
            <a:lvl2pPr marL="228600">
              <a:spcBef>
                <a:spcPts val="1000"/>
              </a:spcBef>
              <a:spcAft>
                <a:spcPts val="1200"/>
              </a:spcAft>
              <a:defRPr sz="1800" b="0"/>
            </a:lvl2pPr>
            <a:lvl3pPr marL="685800">
              <a:spcBef>
                <a:spcPts val="1000"/>
              </a:spcBef>
              <a:spcAft>
                <a:spcPts val="1200"/>
              </a:spcAft>
              <a:defRPr sz="1800" b="0"/>
            </a:lvl3pPr>
            <a:lvl4pPr marL="868680">
              <a:spcBef>
                <a:spcPts val="1000"/>
              </a:spcBef>
              <a:spcAft>
                <a:spcPts val="1200"/>
              </a:spcAft>
              <a:defRPr sz="1800" b="0"/>
            </a:lvl4pPr>
            <a:lvl5pPr marL="1143000">
              <a:spcBef>
                <a:spcPts val="1000"/>
              </a:spcBef>
              <a:spcAft>
                <a:spcPts val="1200"/>
              </a:spcAft>
              <a:defRPr sz="1800"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215745" y="2153285"/>
            <a:ext cx="3229495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C9F70CF1-DCAD-AE71-6B34-7BFB25EE530B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35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33145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CF90928-AB48-3554-E2B9-417A00F286A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930275" y="2168526"/>
            <a:ext cx="10331450" cy="393906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6C0A7-887A-66E2-A954-5E0592B9F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8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BB1E76-5845-01C9-1D0D-03CFFE6F0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6C21AF-4286-DECE-37A1-E8980687A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655320"/>
            <a:ext cx="4572000" cy="548640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E1D6B3-3EC8-6AC4-BE2B-5C732C85679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773680"/>
            <a:ext cx="4572000" cy="336804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457200" indent="0">
              <a:spcBef>
                <a:spcPts val="1000"/>
              </a:spcBef>
              <a:buNone/>
              <a:defRPr sz="1600"/>
            </a:lvl2pPr>
            <a:lvl3pPr marL="914400" indent="0">
              <a:spcBef>
                <a:spcPts val="1000"/>
              </a:spcBef>
              <a:buNone/>
              <a:defRPr sz="1400"/>
            </a:lvl3pPr>
            <a:lvl4pPr marL="1371600" indent="0">
              <a:spcBef>
                <a:spcPts val="1000"/>
              </a:spcBef>
              <a:buNone/>
              <a:defRPr sz="1200"/>
            </a:lvl4pPr>
            <a:lvl5pPr marL="1828800" indent="0"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139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8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920" userDrawn="1">
          <p15:clr>
            <a:srgbClr val="F26B43"/>
          </p15:clr>
        </p15:guide>
        <p15:guide id="4" pos="5760" userDrawn="1">
          <p15:clr>
            <a:srgbClr val="F26B43"/>
          </p15:clr>
        </p15:guide>
        <p15:guide id="5" pos="7248" userDrawn="1">
          <p15:clr>
            <a:srgbClr val="F26B43"/>
          </p15:clr>
        </p15:guide>
        <p15:guide id="6" pos="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ixabay.com/en/question-mark-why-question-1829459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en/hand-leave-pen-paper-thank-you-22635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obile device with apps">
            <a:extLst>
              <a:ext uri="{FF2B5EF4-FFF2-40B4-BE49-F238E27FC236}">
                <a16:creationId xmlns:a16="http://schemas.microsoft.com/office/drawing/2014/main" id="{002ABD02-2D92-A97C-E614-AF38E0FA4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471325-397F-660E-E41B-89B963FEEB45}"/>
              </a:ext>
            </a:extLst>
          </p:cNvPr>
          <p:cNvSpPr txBox="1"/>
          <p:nvPr/>
        </p:nvSpPr>
        <p:spPr>
          <a:xfrm>
            <a:off x="0" y="0"/>
            <a:ext cx="4416655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rPr>
              <a:t>ENSE 281</a:t>
            </a:r>
            <a:endParaRPr lang="en-US" sz="5400" kern="1200">
              <a:solidFill>
                <a:schemeClr val="bg1">
                  <a:lumMod val="85000"/>
                </a:schemeClr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rPr>
              <a:t>PROJECT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rPr>
              <a:t>    PITCH</a:t>
            </a:r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F48DC0A5-EC61-948E-27F1-39A6A602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E6D47B-F1A0-B74B-04AE-61092A8A78C9}"/>
              </a:ext>
            </a:extLst>
          </p:cNvPr>
          <p:cNvSpPr txBox="1"/>
          <p:nvPr/>
        </p:nvSpPr>
        <p:spPr>
          <a:xfrm>
            <a:off x="914400" y="3825239"/>
            <a:ext cx="4802735" cy="207264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0859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56542466-0EDB-CD34-30FB-3EA92AC04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83920"/>
            <a:ext cx="5179180" cy="50596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latin typeface="+mj-lt"/>
                <a:ea typeface="+mj-ea"/>
                <a:cs typeface="+mj-cs"/>
              </a:rPr>
              <a:t>Team Introduction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65B6E07A-E50C-16EF-7C62-360A09612C67}"/>
              </a:ext>
            </a:extLst>
          </p:cNvPr>
          <p:cNvSpPr txBox="1">
            <a:spLocks/>
          </p:cNvSpPr>
          <p:nvPr/>
        </p:nvSpPr>
        <p:spPr>
          <a:xfrm>
            <a:off x="6463318" y="1894114"/>
            <a:ext cx="4799012" cy="3505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lang="en-US" sz="2400" b="1"/>
              <a:t>Group I</a:t>
            </a:r>
            <a:endParaRPr lang="en-US" sz="2400">
              <a:ea typeface="Source Sans Pro Light"/>
            </a:endParaRP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lang="en-US" sz="2400" err="1"/>
              <a:t>Zifran</a:t>
            </a:r>
            <a:r>
              <a:rPr lang="en-US" sz="2400"/>
              <a:t> Chowdhury</a:t>
            </a:r>
            <a:endParaRPr lang="en-US" sz="2400">
              <a:ea typeface="Source Sans Pro Light"/>
            </a:endParaRP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lang="en-US" sz="2400"/>
              <a:t>Deran Cross</a:t>
            </a:r>
            <a:endParaRPr lang="en-US" sz="2400">
              <a:ea typeface="Source Sans Pro Light"/>
            </a:endParaRP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lang="en-US" sz="2400"/>
              <a:t>Emmanuel Dairo</a:t>
            </a:r>
            <a:endParaRPr lang="en-US" sz="2400">
              <a:ea typeface="Source Sans Pro Light"/>
            </a:endParaRP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lang="en-US" sz="2400"/>
              <a:t>Ikechukwu Henry </a:t>
            </a:r>
            <a:r>
              <a:rPr lang="en-US" sz="2400" err="1"/>
              <a:t>Ogowuihe</a:t>
            </a:r>
            <a:endParaRPr lang="en-US" sz="2400" err="1">
              <a:ea typeface="Source Sans Pro Ligh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32C63-4C2C-67BC-2E61-AB3FE112F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27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364034-5F15-4B68-638D-779A619AC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919699"/>
            <a:ext cx="4802373" cy="2237342"/>
          </a:xfrm>
        </p:spPr>
        <p:txBody>
          <a:bodyPr anchor="b">
            <a:normAutofit/>
          </a:bodyPr>
          <a:lstStyle/>
          <a:p>
            <a:r>
              <a:rPr lang="en-US"/>
              <a:t>The WHY (Context &amp; Problem)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3114E55-CC2E-3C86-D054-132E03FBF96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3423919"/>
            <a:ext cx="5575778" cy="25254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lang="en-JM"/>
              <a:t> </a:t>
            </a:r>
            <a:r>
              <a:rPr lang="en-JM" b="0"/>
              <a:t>Household food management </a:t>
            </a:r>
            <a:r>
              <a:rPr lang="en-JM"/>
              <a:t>can get</a:t>
            </a:r>
            <a:r>
              <a:rPr lang="en-JM" b="0"/>
              <a:t>  disorganized.</a:t>
            </a:r>
            <a:endParaRPr lang="en-US">
              <a:ea typeface="Source Sans Pro Light"/>
            </a:endParaRPr>
          </a:p>
          <a:p>
            <a:pPr>
              <a:lnSpc>
                <a:spcPct val="114999"/>
              </a:lnSpc>
              <a:spcAft>
                <a:spcPts val="600"/>
              </a:spcAft>
            </a:pPr>
            <a:endParaRPr lang="en-JM">
              <a:ea typeface="Source Sans Pro Light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lang="en-JM"/>
              <a:t> </a:t>
            </a:r>
            <a:r>
              <a:rPr lang="en-JM" b="0"/>
              <a:t>Food items are frequently forgotten and left to expire, creating food and financial waste.</a:t>
            </a:r>
            <a:endParaRPr lang="en-JM" b="0">
              <a:ea typeface="Source Sans Pro Light"/>
            </a:endParaRPr>
          </a:p>
          <a:p>
            <a:pPr>
              <a:lnSpc>
                <a:spcPct val="114999"/>
              </a:lnSpc>
              <a:spcAft>
                <a:spcPts val="600"/>
              </a:spcAft>
            </a:pPr>
            <a:endParaRPr lang="en-JM">
              <a:ea typeface="Source Sans Pro Light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lang="en-JM"/>
              <a:t> </a:t>
            </a:r>
            <a:r>
              <a:rPr lang="en-JM" b="0"/>
              <a:t>Lack of resources that bridge the gap between "what I bought," "where to put it," and "when it expires."</a:t>
            </a:r>
            <a:endParaRPr lang="en-JM">
              <a:ea typeface="Source Sans Pro Light"/>
            </a:endParaRP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endParaRPr lang="en-JM" sz="150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B048E5A-19DF-0345-D4A1-CC59553EFA3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040" r="7040"/>
          <a:stretch>
            <a:fillRect/>
          </a:stretch>
        </p:blipFill>
        <p:spPr>
          <a:xfrm>
            <a:off x="6478588" y="920750"/>
            <a:ext cx="5713412" cy="50292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AD58C6-6F47-0261-9611-E968042F5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07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B987A-2C75-3010-76C7-FDDF7D3C8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C676E2-DCBA-C8C7-AFBA-FDA075D15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3"/>
            <a:ext cx="9068904" cy="1531525"/>
          </a:xfrm>
        </p:spPr>
        <p:txBody>
          <a:bodyPr>
            <a:normAutofit/>
          </a:bodyPr>
          <a:lstStyle/>
          <a:p>
            <a:r>
              <a:rPr lang="en-US"/>
              <a:t>The WHY pt.2 (Reasons for Creating)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9BB4D7-07F9-8340-6535-3C5536BED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DF1114-3419-7551-F209-58D6689E0E6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9641" y="2020237"/>
            <a:ext cx="7591451" cy="37544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JM" b="0">
              <a:ea typeface="Source Sans Pro Light"/>
            </a:endParaRPr>
          </a:p>
          <a:p>
            <a:pPr>
              <a:buFont typeface="Arial"/>
              <a:buChar char="•"/>
            </a:pPr>
            <a:r>
              <a:rPr lang="en-JM" sz="2000" b="0">
                <a:ea typeface="Source Sans Pro Light"/>
              </a:rPr>
              <a:t>We want to solve the inefficiency of household food management.</a:t>
            </a:r>
          </a:p>
          <a:p>
            <a:pPr marL="0" indent="0">
              <a:buNone/>
            </a:pPr>
            <a:endParaRPr lang="en-JM" sz="2000" b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JM" sz="2000" b="0">
                <a:ea typeface="+mn-lt"/>
                <a:cs typeface="+mn-lt"/>
              </a:rPr>
              <a:t>To interpret household inventory information in a new, useful way.</a:t>
            </a:r>
          </a:p>
          <a:p>
            <a:pPr marL="0" indent="0">
              <a:buNone/>
            </a:pPr>
            <a:endParaRPr lang="en-JM" sz="2000" b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JM" sz="2000" b="0">
                <a:ea typeface="+mn-lt"/>
                <a:cs typeface="+mn-lt"/>
              </a:rPr>
              <a:t>Help consumers reduce waste and save money.</a:t>
            </a:r>
            <a:endParaRPr lang="en-JM" sz="2000"/>
          </a:p>
          <a:p>
            <a:pPr>
              <a:buFont typeface="Arial"/>
              <a:buChar char="•"/>
            </a:pPr>
            <a:endParaRPr lang="en-JM" b="0">
              <a:ea typeface="Source Sans Pro Light"/>
            </a:endParaRPr>
          </a:p>
          <a:p>
            <a:pPr marL="0" indent="0">
              <a:buNone/>
            </a:pPr>
            <a:endParaRPr lang="en-JM">
              <a:ea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88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B5244AC-D906-A60B-5023-D0289CF4F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3"/>
            <a:ext cx="10515600" cy="1531525"/>
          </a:xfrm>
        </p:spPr>
        <p:txBody>
          <a:bodyPr anchor="ctr">
            <a:normAutofit/>
          </a:bodyPr>
          <a:lstStyle/>
          <a:p>
            <a:r>
              <a:rPr lang="en-US"/>
              <a:t>The IMPACT (Current vs. New Reality)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3F9FB22-CA85-FC72-AA81-4708F62AB6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23428" y="1862999"/>
            <a:ext cx="5244737" cy="365767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>
                <a:ea typeface="+mn-lt"/>
                <a:cs typeface="+mn-lt"/>
              </a:rPr>
              <a:t>Current: </a:t>
            </a:r>
            <a:r>
              <a:rPr lang="en-US" sz="2000">
                <a:ea typeface="+mn-lt"/>
                <a:cs typeface="+mn-lt"/>
              </a:rPr>
              <a:t>An unorganized kitchen where food goes bad, money is wasted on duplicates, and meal planning is stressful.</a:t>
            </a:r>
          </a:p>
          <a:p>
            <a:pPr marL="0" indent="0">
              <a:buNone/>
            </a:pPr>
            <a:endParaRPr lang="en-US" sz="2000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New: </a:t>
            </a:r>
            <a:r>
              <a:rPr lang="en-US" sz="2000">
                <a:ea typeface="+mn-lt"/>
                <a:cs typeface="+mn-lt"/>
              </a:rPr>
              <a:t>A simple system where waste is minimized, money is saved, and meal planning is automated based on what you have.</a:t>
            </a:r>
            <a:endParaRPr lang="en-US" sz="2000">
              <a:ea typeface="Source Sans Pro Light"/>
            </a:endParaRPr>
          </a:p>
          <a:p>
            <a:endParaRPr lang="en-US" sz="2000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Action Step:</a:t>
            </a:r>
            <a:r>
              <a:rPr lang="en-US" sz="2000">
                <a:ea typeface="+mn-lt"/>
                <a:cs typeface="+mn-lt"/>
              </a:rPr>
              <a:t> Build a tool that bridges the gap between purchasing food and consuming it efficiently.</a:t>
            </a:r>
            <a:endParaRPr lang="en-US" sz="2000">
              <a:ea typeface="Source Sans Pro Light"/>
            </a:endParaRPr>
          </a:p>
          <a:p>
            <a:endParaRPr lang="en-US" b="1">
              <a:ea typeface="Source Sans Pro Light"/>
            </a:endParaRPr>
          </a:p>
          <a:p>
            <a:endParaRPr lang="en-US" b="1">
              <a:ea typeface="Source Sans Pro Ligh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8CC2E-BB8C-CF5A-C460-C662927C0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2" name="Content Placeholder 1" descr="A hands holding a globe with people around it&#10;&#10;AI-generated content may be incorrect.">
            <a:extLst>
              <a:ext uri="{FF2B5EF4-FFF2-40B4-BE49-F238E27FC236}">
                <a16:creationId xmlns:a16="http://schemas.microsoft.com/office/drawing/2014/main" id="{535BDE9F-E6B1-C746-A92F-D9C8959AAE8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655921" y="2153285"/>
            <a:ext cx="3500438" cy="350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54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E6187B-AC94-F6E4-6B8F-FAB5DD4D46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410060" y="2311132"/>
            <a:ext cx="9781940" cy="4546868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lvl="1" indent="0">
              <a:buNone/>
            </a:pPr>
            <a:endParaRPr lang="en-US" sz="2000" b="1">
              <a:solidFill>
                <a:schemeClr val="tx1"/>
              </a:solidFill>
              <a:ea typeface="Source Sans Pro Light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tx1"/>
                </a:solidFill>
                <a:ea typeface="+mn-lt"/>
                <a:cs typeface="+mn-lt"/>
              </a:rPr>
              <a:t>Home cooks and budget-conscious individuals</a:t>
            </a:r>
            <a:endParaRPr lang="en-US" sz="2400">
              <a:solidFill>
                <a:schemeClr val="tx1"/>
              </a:solidFill>
              <a:ea typeface="Source Sans Pro Light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tx1"/>
                </a:solidFill>
                <a:ea typeface="+mn-lt"/>
                <a:cs typeface="+mn-lt"/>
              </a:rPr>
              <a:t>Families managing large inventories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tx1"/>
                </a:solidFill>
                <a:ea typeface="+mn-lt"/>
                <a:cs typeface="+mn-lt"/>
              </a:rPr>
              <a:t>Students</a:t>
            </a:r>
          </a:p>
          <a:p>
            <a:pPr marL="285750" indent="-285750">
              <a:buFont typeface="Arial"/>
              <a:buChar char="•"/>
            </a:pPr>
            <a:r>
              <a:rPr lang="en-US" sz="2400" b="1">
                <a:solidFill>
                  <a:schemeClr val="tx1"/>
                </a:solidFill>
                <a:ea typeface="+mn-lt"/>
                <a:cs typeface="+mn-lt"/>
              </a:rPr>
              <a:t>Essentially, </a:t>
            </a:r>
            <a:r>
              <a:rPr lang="en-US" sz="2400">
                <a:solidFill>
                  <a:schemeClr val="tx1"/>
                </a:solidFill>
                <a:ea typeface="+mn-lt"/>
                <a:cs typeface="+mn-lt"/>
              </a:rPr>
              <a:t>anyone who buys groceries and wants to minimize waste</a:t>
            </a:r>
            <a:endParaRPr lang="en-US" sz="2400">
              <a:solidFill>
                <a:schemeClr val="tx1"/>
              </a:solidFill>
              <a:ea typeface="Source Sans Pro Ligh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>
                <a:solidFill>
                  <a:schemeClr val="tx1"/>
                </a:solidFill>
                <a:ea typeface="Source Sans Pro Light"/>
              </a:rPr>
              <a:t>Access:</a:t>
            </a:r>
            <a:r>
              <a:rPr lang="en-US" sz="2400">
                <a:solidFill>
                  <a:schemeClr val="tx1"/>
                </a:solidFill>
                <a:ea typeface="Source Sans Pro Light"/>
              </a:rPr>
              <a:t> Mobile app</a:t>
            </a:r>
          </a:p>
          <a:p>
            <a:endParaRPr lang="en-US">
              <a:solidFill>
                <a:schemeClr val="tx1"/>
              </a:solidFill>
              <a:ea typeface="Source Sans Pro Light"/>
            </a:endParaRPr>
          </a:p>
          <a:p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B27BAD-9602-6B60-C782-2749DB990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FE76C457-4544-8028-935C-6EBE26F983EC}"/>
              </a:ext>
            </a:extLst>
          </p:cNvPr>
          <p:cNvSpPr txBox="1">
            <a:spLocks/>
          </p:cNvSpPr>
          <p:nvPr/>
        </p:nvSpPr>
        <p:spPr>
          <a:xfrm>
            <a:off x="929640" y="485113"/>
            <a:ext cx="10515600" cy="153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The WHO (Target Audience) </a:t>
            </a:r>
          </a:p>
        </p:txBody>
      </p:sp>
    </p:spTree>
    <p:extLst>
      <p:ext uri="{BB962C8B-B14F-4D97-AF65-F5344CB8AC3E}">
        <p14:creationId xmlns:p14="http://schemas.microsoft.com/office/powerpoint/2010/main" val="1382360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652A1E-B3F7-E1B2-76ED-8F78E74B9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30" y="787494"/>
            <a:ext cx="4189792" cy="1531525"/>
          </a:xfrm>
        </p:spPr>
        <p:txBody>
          <a:bodyPr>
            <a:normAutofit/>
          </a:bodyPr>
          <a:lstStyle/>
          <a:p>
            <a:r>
              <a:rPr lang="en-US" sz="4800"/>
              <a:t>The WHAT (Our Solution)</a:t>
            </a:r>
            <a:r>
              <a:rPr lang="en-US" sz="440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65E832F-DC64-28CC-592D-2CA44C5718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9640" y="2153285"/>
            <a:ext cx="4953001" cy="35004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noProof="1"/>
          </a:p>
          <a:p>
            <a:endParaRPr lang="en-US" noProof="1">
              <a:ea typeface="Source Sans Pro Light"/>
            </a:endParaRPr>
          </a:p>
          <a:p>
            <a:endParaRPr lang="en-US" noProof="1">
              <a:ea typeface="Source Sans Pro Ligh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69CC98A-13B9-DAED-1898-47715878985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28430" y="2588715"/>
            <a:ext cx="5628775" cy="37145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1">
                <a:ea typeface="+mn-lt"/>
                <a:cs typeface="+mn-lt"/>
              </a:rPr>
              <a:t>An app to input grocery lists, assign storage (pantry, fridge, freezer, etc.), and input expiry dates.</a:t>
            </a:r>
            <a:endParaRPr lang="en-US" noProof="1">
              <a:ea typeface="Source Sans Pro Light"/>
            </a:endParaRPr>
          </a:p>
          <a:p>
            <a:r>
              <a:rPr lang="en-US" b="1" noProof="1">
                <a:ea typeface="+mn-lt"/>
                <a:cs typeface="+mn-lt"/>
              </a:rPr>
              <a:t>Key Feature:</a:t>
            </a:r>
            <a:r>
              <a:rPr lang="en-US" noProof="1">
                <a:ea typeface="+mn-lt"/>
                <a:cs typeface="+mn-lt"/>
              </a:rPr>
              <a:t> Auto-generate recipes based on foods stored and items about to expire/that have expired.</a:t>
            </a:r>
            <a:endParaRPr lang="en-US"/>
          </a:p>
          <a:p>
            <a:r>
              <a:rPr lang="en-US" sz="1700" b="1" noProof="1">
                <a:ea typeface="Source Sans Pro Light"/>
              </a:rPr>
              <a:t>Our Vision:</a:t>
            </a:r>
            <a:endParaRPr lang="en-US" sz="1700" noProof="1">
              <a:solidFill>
                <a:srgbClr val="000000"/>
              </a:solidFill>
              <a:ea typeface="Source Sans Pro Ligh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noProof="1">
                <a:ea typeface="Source Sans Pro Light"/>
              </a:rPr>
              <a:t>Zero-waste kitchen management</a:t>
            </a:r>
            <a:endParaRPr lang="en-US" sz="1800" noProof="1">
              <a:solidFill>
                <a:srgbClr val="000000"/>
              </a:solidFill>
              <a:ea typeface="Source Sans Pro Ligh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noProof="1">
                <a:ea typeface="Source Sans Pro Light"/>
              </a:rPr>
              <a:t>Proactive + Reactive cooking</a:t>
            </a:r>
            <a:endParaRPr lang="en-US" sz="1800" noProof="1">
              <a:solidFill>
                <a:srgbClr val="000000"/>
              </a:solidFill>
              <a:ea typeface="Source Sans Pro Light"/>
            </a:endParaRPr>
          </a:p>
          <a:p>
            <a:endParaRPr lang="en-US" noProof="1">
              <a:ea typeface="Source Sans Pro Light"/>
            </a:endParaRPr>
          </a:p>
          <a:p>
            <a:endParaRPr lang="en-US" noProof="1">
              <a:ea typeface="Source Sans Pro Ligh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38ADE9-D6F5-84F7-8489-6CDEB832E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D29F86-D2CB-83A6-31FF-BB710D61ED50}"/>
              </a:ext>
            </a:extLst>
          </p:cNvPr>
          <p:cNvSpPr txBox="1"/>
          <p:nvPr/>
        </p:nvSpPr>
        <p:spPr>
          <a:xfrm>
            <a:off x="7577217" y="2886665"/>
            <a:ext cx="392284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b="1">
                <a:solidFill>
                  <a:srgbClr val="00B050"/>
                </a:solidFill>
                <a:latin typeface="Bookman Old Style"/>
                <a:ea typeface="Source Sans Pro Light"/>
              </a:rPr>
              <a:t>PantryIQ</a:t>
            </a:r>
            <a:endParaRPr lang="en-US" sz="6000" b="1">
              <a:solidFill>
                <a:srgbClr val="00B050"/>
              </a:solidFill>
              <a:latin typeface="Bookman Old Style"/>
            </a:endParaRPr>
          </a:p>
        </p:txBody>
      </p:sp>
      <p:pic>
        <p:nvPicPr>
          <p:cNvPr id="5" name="Picture 4" descr="Pantry - Free furniture and household icons">
            <a:extLst>
              <a:ext uri="{FF2B5EF4-FFF2-40B4-BE49-F238E27FC236}">
                <a16:creationId xmlns:a16="http://schemas.microsoft.com/office/drawing/2014/main" id="{09DE786E-047E-D1DE-750B-006BD8724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360" y="3046791"/>
            <a:ext cx="764420" cy="6918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D8712B-3389-AA6D-F83A-8E88DD563D83}"/>
              </a:ext>
            </a:extLst>
          </p:cNvPr>
          <p:cNvSpPr txBox="1"/>
          <p:nvPr/>
        </p:nvSpPr>
        <p:spPr>
          <a:xfrm>
            <a:off x="7861261" y="3901675"/>
            <a:ext cx="204005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Source Sans Pro Light"/>
              </a:rPr>
              <a:t>*subject to change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85500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3FF20-8CFB-FE77-9823-BF0C20D43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1B6D55-B59A-247B-985B-0519F4CD6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3"/>
            <a:ext cx="10515600" cy="1531525"/>
          </a:xfrm>
        </p:spPr>
        <p:txBody>
          <a:bodyPr/>
          <a:lstStyle/>
          <a:p>
            <a:r>
              <a:rPr lang="en-US"/>
              <a:t>The WHAT pt. 2 (Constraints &amp; Limitations)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746E3E-5963-4B39-4CCB-1F3ECD95BB3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9640" y="2153285"/>
            <a:ext cx="4953001" cy="35004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noProof="1"/>
          </a:p>
          <a:p>
            <a:endParaRPr lang="en-US" noProof="1">
              <a:ea typeface="Source Sans Pro Light"/>
            </a:endParaRPr>
          </a:p>
          <a:p>
            <a:endParaRPr lang="en-US" noProof="1">
              <a:ea typeface="Source Sans Pro Ligh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F6531D0-E8F6-54EF-D1CE-F2B6F6E9BBE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09134" y="1830071"/>
            <a:ext cx="9164320" cy="46598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noProof="1">
                <a:ea typeface="+mn-lt"/>
                <a:cs typeface="+mn-lt"/>
              </a:rPr>
              <a:t>Constraints</a:t>
            </a:r>
            <a:endParaRPr lang="en-US">
              <a:ea typeface="Source Sans Pro Light"/>
            </a:endParaRPr>
          </a:p>
          <a:p>
            <a:pPr>
              <a:buFont typeface="Arial"/>
              <a:buChar char="•"/>
            </a:pPr>
            <a:r>
              <a:rPr lang="en-US" noProof="1">
                <a:ea typeface="+mn-lt"/>
                <a:cs typeface="+mn-lt"/>
              </a:rPr>
              <a:t>Time: 2-month development frame</a:t>
            </a:r>
            <a:endParaRPr lang="en-US"/>
          </a:p>
          <a:p>
            <a:pPr>
              <a:buFont typeface="Arial"/>
              <a:buChar char="•"/>
            </a:pPr>
            <a:r>
              <a:rPr lang="en-US" noProof="1">
                <a:ea typeface="+mn-lt"/>
                <a:cs typeface="+mn-lt"/>
              </a:rPr>
              <a:t>MVC Pattern (Model-View-Controller) on a small-medium scope</a:t>
            </a:r>
            <a:endParaRPr lang="en-US"/>
          </a:p>
          <a:p>
            <a:pPr marL="0" indent="0">
              <a:buNone/>
            </a:pPr>
            <a:r>
              <a:rPr lang="en-US" b="1" noProof="1">
                <a:ea typeface="+mn-lt"/>
                <a:cs typeface="+mn-lt"/>
              </a:rPr>
              <a:t>Challenges:</a:t>
            </a:r>
            <a:endParaRPr lang="en-US">
              <a:ea typeface="Source Sans Pro Light"/>
            </a:endParaRPr>
          </a:p>
          <a:p>
            <a:pPr>
              <a:buFont typeface="Arial"/>
              <a:buChar char="•"/>
            </a:pPr>
            <a:r>
              <a:rPr lang="en-US" noProof="1">
                <a:ea typeface="+mn-lt"/>
                <a:cs typeface="+mn-lt"/>
              </a:rPr>
              <a:t>Data Entry: Relies on manual user input.</a:t>
            </a:r>
            <a:endParaRPr lang="en-US">
              <a:ea typeface="Source Sans Pro Light"/>
            </a:endParaRPr>
          </a:p>
          <a:p>
            <a:pPr>
              <a:buFont typeface="Arial"/>
              <a:buChar char="•"/>
            </a:pPr>
            <a:r>
              <a:rPr lang="en-US" noProof="1">
                <a:ea typeface="+mn-lt"/>
                <a:cs typeface="+mn-lt"/>
              </a:rPr>
              <a:t>Knowledge: Learning the tech stack (Node.js, MongoDB, etc.) while building.</a:t>
            </a:r>
          </a:p>
          <a:p>
            <a:pPr>
              <a:buFont typeface="Arial"/>
              <a:buChar char="•"/>
            </a:pPr>
            <a:r>
              <a:rPr lang="en-US" noProof="1">
                <a:ea typeface="+mn-lt"/>
                <a:cs typeface="+mn-lt"/>
              </a:rPr>
              <a:t>UX: Recipe/Review sharing.</a:t>
            </a:r>
            <a:endParaRPr lang="en-US"/>
          </a:p>
          <a:p>
            <a:pPr>
              <a:buFont typeface="Arial"/>
              <a:buChar char="•"/>
            </a:pPr>
            <a:r>
              <a:rPr lang="en-US" noProof="1">
                <a:ea typeface="+mn-lt"/>
                <a:cs typeface="+mn-lt"/>
              </a:rPr>
              <a:t>Avoiding scope creep (e.g. barcode scanning?)</a:t>
            </a:r>
            <a:endParaRPr lang="en-US" noProof="1">
              <a:ea typeface="Source Sans Pro Light"/>
            </a:endParaRPr>
          </a:p>
          <a:p>
            <a:pPr marL="0" indent="0">
              <a:buNone/>
            </a:pPr>
            <a:endParaRPr lang="en-US" b="1" noProof="1">
              <a:ea typeface="Source Sans Pro Ligh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DEBC89-B137-4794-F58B-96B90744E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52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CB2C-C9E7-C503-A2CF-A46D052DC5C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81029" y="3008142"/>
            <a:ext cx="5197231" cy="6228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>
                <a:ea typeface="Source Sans Pro Light"/>
              </a:rPr>
              <a:t>That's all! Feel free to ask any...</a:t>
            </a:r>
            <a:endParaRPr lang="en-US" sz="28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811422-1CA3-30E4-5B53-2CF5606B0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417" y="2683552"/>
            <a:ext cx="4701904" cy="880952"/>
          </a:xfrm>
        </p:spPr>
        <p:txBody>
          <a:bodyPr anchor="b">
            <a:normAutofit/>
          </a:bodyPr>
          <a:lstStyle/>
          <a:p>
            <a:r>
              <a:rPr lang="en-CA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55227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8FC065-1C36-9285-2A06-8DE03B56547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6269"/>
          <a:stretch>
            <a:fillRect/>
          </a:stretch>
        </p:blipFill>
        <p:spPr>
          <a:xfrm>
            <a:off x="458788" y="457200"/>
            <a:ext cx="11274425" cy="5943600"/>
          </a:xfrm>
          <a:noFill/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4DF04230-1183-26FF-8144-40A410CA2C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12125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5711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09D"/>
      </a:accent1>
      <a:accent2>
        <a:srgbClr val="FFD7C7"/>
      </a:accent2>
      <a:accent3>
        <a:srgbClr val="FFE9E0"/>
      </a:accent3>
      <a:accent4>
        <a:srgbClr val="55736D"/>
      </a:accent4>
      <a:accent5>
        <a:srgbClr val="88A88E"/>
      </a:accent5>
      <a:accent6>
        <a:srgbClr val="E6FFFB"/>
      </a:accent6>
      <a:hlink>
        <a:srgbClr val="0563C1"/>
      </a:hlink>
      <a:folHlink>
        <a:srgbClr val="954F72"/>
      </a:folHlink>
    </a:clrScheme>
    <a:fontScheme name="Custom 116">
      <a:majorFont>
        <a:latin typeface="Bodoni MT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722518_win32_SD_v11" id="{6E195932-91F4-4861-8538-848409B20D97}" vid="{F5C82CE7-F5AC-4E30-975C-FD228ED220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F796806-D3A7-49C6-9335-B8A0B9307F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2E4FA29-61E2-42A6-9537-732ED628B68D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37CDA33-9251-49D0-A51A-7888AA3E0635}">
  <ds:schemaRefs>
    <ds:schemaRef ds:uri="http://schemas.microsoft.com/office/infopath/2007/PartnerControls"/>
    <ds:schemaRef ds:uri="http://schemas.microsoft.com/office/2006/documentManagement/types"/>
    <ds:schemaRef ds:uri="230e9df3-be65-4c73-a93b-d1236ebd677e"/>
    <ds:schemaRef ds:uri="http://www.w3.org/XML/1998/namespace"/>
    <ds:schemaRef ds:uri="http://schemas.microsoft.com/office/2006/metadata/properties"/>
    <ds:schemaRef ds:uri="16c05727-aa75-4e4a-9b5f-8a80a1165891"/>
    <ds:schemaRef ds:uri="http://purl.org/dc/terms/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sharepoint/v3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Light sales pitch presentation</Template>
  <TotalTime>0</TotalTime>
  <Words>385</Words>
  <Application>Microsoft Office PowerPoint</Application>
  <PresentationFormat>Widescreen</PresentationFormat>
  <Paragraphs>76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Bodoni MT</vt:lpstr>
      <vt:lpstr>Bookman Old Style</vt:lpstr>
      <vt:lpstr>Calibri</vt:lpstr>
      <vt:lpstr>Courier New</vt:lpstr>
      <vt:lpstr>Source Sans Pro Light</vt:lpstr>
      <vt:lpstr>Custom</vt:lpstr>
      <vt:lpstr>PowerPoint Presentation</vt:lpstr>
      <vt:lpstr>Team Introduction</vt:lpstr>
      <vt:lpstr>The WHY (Context &amp; Problem) </vt:lpstr>
      <vt:lpstr>The WHY pt.2 (Reasons for Creating) </vt:lpstr>
      <vt:lpstr>The IMPACT (Current vs. New Reality) </vt:lpstr>
      <vt:lpstr>PowerPoint Presentation</vt:lpstr>
      <vt:lpstr>The WHAT (Our Solution) </vt:lpstr>
      <vt:lpstr>The WHAT pt. 2 (Constraints &amp; Limitations) 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Dairo</dc:creator>
  <cp:lastModifiedBy>Deran Cross</cp:lastModifiedBy>
  <cp:revision>2</cp:revision>
  <dcterms:created xsi:type="dcterms:W3CDTF">2026-01-26T05:28:35Z</dcterms:created>
  <dcterms:modified xsi:type="dcterms:W3CDTF">2026-01-29T17:26:50Z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